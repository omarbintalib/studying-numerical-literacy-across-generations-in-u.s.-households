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7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Numerical literacy</a:t>
            </a:r>
            <a:r>
              <a:rPr lang="en">
                <a:solidFill>
                  <a:schemeClr val="dk1"/>
                </a:solidFill>
              </a:rPr>
              <a:t> = the ability to understand and work with numbers.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studied </a:t>
            </a:r>
            <a:r>
              <a:rPr b="1" lang="en">
                <a:solidFill>
                  <a:schemeClr val="dk1"/>
                </a:solidFill>
              </a:rPr>
              <a:t>parents and children</a:t>
            </a:r>
            <a:r>
              <a:rPr lang="en">
                <a:solidFill>
                  <a:schemeClr val="dk1"/>
                </a:solidFill>
              </a:rPr>
              <a:t> using national U.S. data (PSID &amp; CDS).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Found </a:t>
            </a:r>
            <a:r>
              <a:rPr b="1" lang="en">
                <a:solidFill>
                  <a:schemeClr val="dk1"/>
                </a:solidFill>
              </a:rPr>
              <a:t>modest but real links</a:t>
            </a:r>
            <a:r>
              <a:rPr lang="en">
                <a:solidFill>
                  <a:schemeClr val="dk1"/>
                </a:solidFill>
              </a:rPr>
              <a:t> in number skills across generations.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Families shape both </a:t>
            </a:r>
            <a:r>
              <a:rPr b="1" lang="en">
                <a:solidFill>
                  <a:schemeClr val="dk1"/>
                </a:solidFill>
              </a:rPr>
              <a:t>math skills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wealth-building habits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Early number skills</a:t>
            </a:r>
            <a:r>
              <a:rPr lang="en">
                <a:solidFill>
                  <a:schemeClr val="dk1"/>
                </a:solidFill>
              </a:rPr>
              <a:t> play a role in long-term economic success.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5e5b3b1eb_0_16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5e5b3b1e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5e5b3b1eb_0_1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5e5b3b1e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5ed97bdca_1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5ed97bdc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5e5b3b1eb_0_2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5e5b3b1eb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5e5b3b1eb_0_2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5e5b3b1eb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5eb1403de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5eb1403d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5e5b3b1eb_0_2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5e5b3b1eb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5e5b3b1eb_0_1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5e5b3b1eb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5e5b3b1eb_0_2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5e5b3b1e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5e5b3b1eb_0_2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5e5b3b1e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5e5b3b1eb_0_2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5e5b3b1e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27950" y="4031275"/>
            <a:ext cx="7688100" cy="10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Aws Alsaedi¹, Omar Bintalib¹, Prof. Michael Boutros²</a:t>
            </a:r>
            <a:endParaRPr sz="1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¹Kaust Academy, King Abdullah University of Science and Technology, Thuwal, Saudi Arabia²Department of Economics, University of Toronto, Canada</a:t>
            </a:r>
            <a:endParaRPr sz="12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5" name="Google Shape;55;p13" title="KAUST_Seeds_Col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8475" y="70775"/>
            <a:ext cx="1020500" cy="102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KAUST Academy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1341" y="95250"/>
            <a:ext cx="1793987" cy="102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DSI 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84358" y="113751"/>
            <a:ext cx="1815317" cy="102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UofT 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325" y="118593"/>
            <a:ext cx="2487617" cy="102139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126750" y="1523325"/>
            <a:ext cx="8890500" cy="2336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Studying Numerical Literacy Across Generations in U.S. Households</a:t>
            </a:r>
            <a:endParaRPr sz="4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022200" y="290225"/>
            <a:ext cx="3099600" cy="8583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Medium"/>
                <a:ea typeface="Montserrat Medium"/>
                <a:cs typeface="Montserrat Medium"/>
                <a:sym typeface="Montserrat Medium"/>
              </a:rPr>
              <a:t>Abstract</a:t>
            </a:r>
            <a:endParaRPr sz="3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531013" y="1025363"/>
            <a:ext cx="4081975" cy="40819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467400" y="1359800"/>
            <a:ext cx="8209200" cy="3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literacy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the ability to understand and work with numbers.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studied </a:t>
            </a: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parents and children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national U.S. data (PSID &amp; CDS).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 </a:t>
            </a: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modest but real links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number skills across generations.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Families shape both </a:t>
            </a: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 skills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wealth-building habits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number skills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play a role in long-term economic success.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688800" y="160850"/>
            <a:ext cx="7766400" cy="9876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Medium"/>
                <a:ea typeface="Montserrat Medium"/>
                <a:cs typeface="Montserrat Medium"/>
                <a:sym typeface="Montserrat Medium"/>
              </a:rPr>
              <a:t>Background / Knowledge Gap</a:t>
            </a:r>
            <a:endParaRPr sz="3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101175" y="461650"/>
            <a:ext cx="4681850" cy="46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293700" y="1325725"/>
            <a:ext cx="8637000" cy="31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Numerical literacy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financial decision-making, long-term wealth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focus mostly on adults, not skill development or transmission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Unknown link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childhood numerical skills → adult outcomes, family wealth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contribution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 national PSID &amp; CDS data, multi-generational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3022200" y="317475"/>
            <a:ext cx="3099600" cy="8583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Medium"/>
                <a:ea typeface="Montserrat Medium"/>
                <a:cs typeface="Montserrat Medium"/>
                <a:sym typeface="Montserrat Medium"/>
              </a:rPr>
              <a:t>Objectives</a:t>
            </a:r>
            <a:endParaRPr sz="3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506700" y="1012900"/>
            <a:ext cx="4130600" cy="41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293700" y="1325725"/>
            <a:ext cx="8556600" cy="31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Persistence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numerical literacy over time (within individuals)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Transmission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from parents to children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childhood skills → adult wealth outcomes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Predictors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intergenerational literacy (statistical &amp; ML methods)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3022200" y="290225"/>
            <a:ext cx="3099600" cy="8583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Medium"/>
                <a:ea typeface="Montserrat Medium"/>
                <a:cs typeface="Montserrat Medium"/>
                <a:sym typeface="Montserrat Medium"/>
              </a:rPr>
              <a:t>Data</a:t>
            </a:r>
            <a:endParaRPr sz="3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452988" y="920013"/>
            <a:ext cx="4238025" cy="4238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293700" y="1325725"/>
            <a:ext cx="8556600" cy="3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PSID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6-question numerical literacy test (0–6 score) for parents.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CDS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standardized child assessment (0–120 score) for children.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these exams?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in past economic research for financial/numerical literacy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Comparable across survey years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and objective scoring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93700" y="824800"/>
            <a:ext cx="4156950" cy="41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148250" y="441675"/>
            <a:ext cx="3909000" cy="43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Linked each Child’s test scores with their parents’ test scores and their own future outcomes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matched parent–child and matched them over years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patterns using both regression models and machine learning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8" title="ChatGPT Image Aug 9, 2025, 04_26_0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3950" y="49787"/>
            <a:ext cx="3362624" cy="504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99600" y="152400"/>
            <a:ext cx="3409800" cy="19023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Result 1: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Does </a:t>
            </a:r>
            <a:r>
              <a:rPr b="1" lang="en" sz="2400">
                <a:solidFill>
                  <a:schemeClr val="dk1"/>
                </a:solidFill>
              </a:rPr>
              <a:t>numerical</a:t>
            </a:r>
            <a:r>
              <a:rPr b="1" lang="en" sz="2400">
                <a:solidFill>
                  <a:schemeClr val="dk1"/>
                </a:solidFill>
              </a:rPr>
              <a:t> </a:t>
            </a:r>
            <a:r>
              <a:rPr b="1" lang="en" sz="2400">
                <a:solidFill>
                  <a:schemeClr val="dk1"/>
                </a:solidFill>
              </a:rPr>
              <a:t>literacy</a:t>
            </a:r>
            <a:r>
              <a:rPr b="1" lang="en" sz="2400">
                <a:solidFill>
                  <a:schemeClr val="dk1"/>
                </a:solidFill>
              </a:rPr>
              <a:t> </a:t>
            </a:r>
            <a:r>
              <a:rPr b="1" lang="en" sz="2400">
                <a:solidFill>
                  <a:schemeClr val="dk1"/>
                </a:solidFill>
              </a:rPr>
              <a:t>persist</a:t>
            </a:r>
            <a:r>
              <a:rPr b="1" lang="en" sz="2400">
                <a:solidFill>
                  <a:schemeClr val="dk1"/>
                </a:solidFill>
              </a:rPr>
              <a:t> within an </a:t>
            </a:r>
            <a:r>
              <a:rPr b="1" lang="en" sz="2400">
                <a:solidFill>
                  <a:schemeClr val="dk1"/>
                </a:solidFill>
              </a:rPr>
              <a:t>individual</a:t>
            </a:r>
            <a:r>
              <a:rPr b="1" lang="en" sz="2400">
                <a:solidFill>
                  <a:schemeClr val="dk1"/>
                </a:solidFill>
              </a:rPr>
              <a:t>?</a:t>
            </a:r>
            <a:endParaRPr sz="24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129900" y="2265850"/>
            <a:ext cx="3349200" cy="27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Yes, the plot shows each person’s average score based on whether they answered all six numerical literacy questions correctly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800" y="152400"/>
            <a:ext cx="469998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>
            <a:off x="99600" y="276600"/>
            <a:ext cx="3409800" cy="17781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Result 2: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Is it transmitted after generations?</a:t>
            </a:r>
            <a:endParaRPr sz="24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129900" y="2265850"/>
            <a:ext cx="3349200" cy="19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Yes, the higher the parents is score the higher the children.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 its transmitted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800" y="152400"/>
            <a:ext cx="500384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99600" y="276600"/>
            <a:ext cx="3409800" cy="17781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Result 3: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Does numerical </a:t>
            </a:r>
            <a:r>
              <a:rPr b="1" lang="en" sz="2400">
                <a:solidFill>
                  <a:schemeClr val="dk1"/>
                </a:solidFill>
              </a:rPr>
              <a:t>literacy</a:t>
            </a:r>
            <a:r>
              <a:rPr b="1" lang="en" sz="2400">
                <a:solidFill>
                  <a:schemeClr val="dk1"/>
                </a:solidFill>
              </a:rPr>
              <a:t> have an effect on income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282600" y="2238600"/>
            <a:ext cx="3043800" cy="2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Children who answered all six questions correctly had a much higher income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800" y="152400"/>
            <a:ext cx="468154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>
            <a:off x="3022200" y="290225"/>
            <a:ext cx="3099600" cy="8583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Medium"/>
                <a:ea typeface="Montserrat Medium"/>
                <a:cs typeface="Montserrat Medium"/>
                <a:sym typeface="Montserrat Medium"/>
              </a:rPr>
              <a:t>Discussion</a:t>
            </a:r>
            <a:endParaRPr sz="3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248175" y="1530100"/>
            <a:ext cx="8820900" cy="2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Persistence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numerical literacy over time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Transmission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between generations (family influence)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skills → Wealth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importance of early education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predictors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parental income, spending patterns, education expectations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133600" y="40072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/>
          <p:nvPr/>
        </p:nvSpPr>
        <p:spPr>
          <a:xfrm>
            <a:off x="3022200" y="290225"/>
            <a:ext cx="3099600" cy="8583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Medium"/>
                <a:ea typeface="Montserrat Medium"/>
                <a:cs typeface="Montserrat Medium"/>
                <a:sym typeface="Montserrat Medium"/>
              </a:rPr>
              <a:t>Conclusion</a:t>
            </a:r>
            <a:endParaRPr sz="3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293700" y="1624100"/>
            <a:ext cx="8556600" cy="24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Persistence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over time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Transmission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across generations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Wealth link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stronger skills → better outcomes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predictors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parental income, spending patterns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Lasting impact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on generational families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 rotWithShape="1">
          <a:blip r:embed="rId3">
            <a:alphaModFix amt="8000"/>
          </a:blip>
          <a:srcRect b="-4993" l="0" r="0" t="-7975"/>
          <a:stretch/>
        </p:blipFill>
        <p:spPr>
          <a:xfrm>
            <a:off x="2804189" y="574025"/>
            <a:ext cx="4068826" cy="459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/>
          <p:nvPr/>
        </p:nvSpPr>
        <p:spPr>
          <a:xfrm>
            <a:off x="2377350" y="290225"/>
            <a:ext cx="4389300" cy="858300"/>
          </a:xfrm>
          <a:prstGeom prst="flowChartAlternateProcess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Medium"/>
                <a:ea typeface="Montserrat Medium"/>
                <a:cs typeface="Montserrat Medium"/>
                <a:sym typeface="Montserrat Medium"/>
              </a:rPr>
              <a:t>Future Direction</a:t>
            </a:r>
            <a:endParaRPr sz="3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407920" y="590550"/>
            <a:ext cx="48768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/>
        </p:nvSpPr>
        <p:spPr>
          <a:xfrm>
            <a:off x="286875" y="1353000"/>
            <a:ext cx="9025200" cy="31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Longer follow-up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more PSID waves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predictors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for numerical literacy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Richer socioeconomic indicators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occupation, neighborhood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ML models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improve predictions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 strategies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boost early numerical literacy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Cross-country comparison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test generalizability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/>
          <p:nvPr/>
        </p:nvSpPr>
        <p:spPr>
          <a:xfrm>
            <a:off x="2377350" y="290225"/>
            <a:ext cx="4389300" cy="858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Medium"/>
                <a:ea typeface="Montserrat Medium"/>
                <a:cs typeface="Montserrat Medium"/>
                <a:sym typeface="Montserrat Medium"/>
              </a:rPr>
              <a:t>References</a:t>
            </a:r>
            <a:endParaRPr sz="3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945410" y="1036600"/>
            <a:ext cx="3984700" cy="39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/>
        </p:nvSpPr>
        <p:spPr>
          <a:xfrm>
            <a:off x="293700" y="1325725"/>
            <a:ext cx="8556600" cy="31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Panel Study of Income Dynamics, public use dataset. Produced and distributed by the University of Michigan, 1968–2021.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Child Development Supplement (CDS) to the PSID, public use dataset. University of Michigan, 1997–2019.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Lusardi, A., Mitchell, O. S., &amp; Curto, V. "Financial literacy and financial sophistication in the older population," </a:t>
            </a:r>
            <a:r>
              <a:rPr i="1" lang="en">
                <a:solidFill>
                  <a:schemeClr val="dk1"/>
                </a:solidFill>
              </a:rPr>
              <a:t>Journal of Pension Economics and Finance</a:t>
            </a:r>
            <a:r>
              <a:rPr lang="en">
                <a:solidFill>
                  <a:schemeClr val="dk1"/>
                </a:solidFill>
              </a:rPr>
              <a:t>, vol. 13, no. 4, pp. 347–366, 2014.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Friedman, J. H. "Greedy function approximation: A gradient boosting machine," </a:t>
            </a:r>
            <a:r>
              <a:rPr i="1" lang="en">
                <a:solidFill>
                  <a:schemeClr val="dk1"/>
                </a:solidFill>
              </a:rPr>
              <a:t>Annals of Statistics</a:t>
            </a:r>
            <a:r>
              <a:rPr lang="en">
                <a:solidFill>
                  <a:schemeClr val="dk1"/>
                </a:solidFill>
              </a:rPr>
              <a:t>, vol. 29, no. 5, pp. 1189–1232, 2001.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/>
          <p:nvPr/>
        </p:nvSpPr>
        <p:spPr>
          <a:xfrm>
            <a:off x="2177550" y="317475"/>
            <a:ext cx="4788900" cy="8583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Montserrat Medium"/>
                <a:ea typeface="Montserrat Medium"/>
                <a:cs typeface="Montserrat Medium"/>
                <a:sym typeface="Montserrat Medium"/>
              </a:rPr>
              <a:t>Acknowledgement</a:t>
            </a:r>
            <a:endParaRPr sz="36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 amt="8000"/>
          </a:blip>
          <a:stretch>
            <a:fillRect/>
          </a:stretch>
        </p:blipFill>
        <p:spPr>
          <a:xfrm>
            <a:off x="2398263" y="729538"/>
            <a:ext cx="4347475" cy="434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 txBox="1"/>
          <p:nvPr/>
        </p:nvSpPr>
        <p:spPr>
          <a:xfrm>
            <a:off x="280711" y="1325725"/>
            <a:ext cx="8556600" cy="31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gratefully acknowledge: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Michael Boutros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guidance and mentorship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Kaust Academy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Sultan Albarakati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funding and research support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Toronto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Sciences Institute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resources and collaboration</a:t>
            </a:r>
            <a:b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colleagues and peers for valuable feedback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